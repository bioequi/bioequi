
<file path=[Content_Types].xml><?xml version="1.0" encoding="utf-8"?>
<Types xmlns="http://schemas.openxmlformats.org/package/2006/content-types">
  <Default ContentType="application/vnd.openxmlformats-officedocument.oleObject" Extension="bin"/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8288000" cy="10287000"/>
  <p:notesSz cx="6858000" cy="9144000"/>
  <p:embeddedFontLst>
    <p:embeddedFont>
      <p:font typeface="Object Sans" charset="1" panose="00000300000000000000"/>
      <p:regular r:id="rId14"/>
    </p:embeddedFont>
    <p:embeddedFont>
      <p:font typeface="Object Sans Bold" charset="1" panose="00000300000000000000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embeddings/oleObject1.bin" Type="http://schemas.openxmlformats.org/officeDocument/2006/relationships/oleObjec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F6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936555" y="7460629"/>
            <a:ext cx="15322745" cy="17976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2319"/>
              </a:lnSpc>
            </a:pPr>
            <a:r>
              <a:rPr lang="en-US" sz="15999" spc="-1279">
                <a:solidFill>
                  <a:srgbClr val="292B2D"/>
                </a:solidFill>
                <a:latin typeface="Object Sans"/>
                <a:ea typeface="Object Sans"/>
                <a:cs typeface="Object Sans"/>
                <a:sym typeface="Object Sans"/>
              </a:rPr>
              <a:t>PROPUESTA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1325666"/>
            <a:ext cx="2604777" cy="5594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9"/>
              </a:lnSpc>
            </a:pPr>
            <a:r>
              <a:rPr lang="en-US" sz="1599">
                <a:solidFill>
                  <a:srgbClr val="292B2D"/>
                </a:solidFill>
                <a:latin typeface="Object Sans"/>
                <a:ea typeface="Object Sans"/>
                <a:cs typeface="Object Sans"/>
                <a:sym typeface="Object Sans"/>
              </a:rPr>
              <a:t>Diego Fuentes</a:t>
            </a:r>
          </a:p>
          <a:p>
            <a:pPr algn="l">
              <a:lnSpc>
                <a:spcPts val="2239"/>
              </a:lnSpc>
            </a:pPr>
            <a:r>
              <a:rPr lang="en-US" sz="1599">
                <a:solidFill>
                  <a:srgbClr val="292B2D"/>
                </a:solidFill>
                <a:latin typeface="Object Sans"/>
                <a:ea typeface="Object Sans"/>
                <a:cs typeface="Object Sans"/>
                <a:sym typeface="Object Sans"/>
              </a:rPr>
              <a:t>Ivan Fernandez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1028700"/>
            <a:ext cx="2604777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true">
                <a:solidFill>
                  <a:srgbClr val="292B2D"/>
                </a:solidFill>
                <a:latin typeface="Object Sans Bold"/>
                <a:ea typeface="Object Sans Bold"/>
                <a:cs typeface="Object Sans Bold"/>
                <a:sym typeface="Object Sans Bold"/>
              </a:rPr>
              <a:t>NOMBRES: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4192528" y="1058966"/>
            <a:ext cx="3066772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60"/>
              </a:lnSpc>
            </a:pPr>
            <a:r>
              <a:rPr lang="en-US" sz="1800" b="true">
                <a:solidFill>
                  <a:srgbClr val="292B2D"/>
                </a:solidFill>
                <a:latin typeface="Object Sans Bold"/>
                <a:ea typeface="Object Sans Bold"/>
                <a:cs typeface="Object Sans Bold"/>
                <a:sym typeface="Object Sans Bold"/>
              </a:rPr>
              <a:t>Profesor</a:t>
            </a:r>
            <a:r>
              <a:rPr lang="en-US" sz="1800">
                <a:solidFill>
                  <a:srgbClr val="292B2D"/>
                </a:solidFill>
                <a:latin typeface="Object Sans"/>
                <a:ea typeface="Object Sans"/>
                <a:cs typeface="Object Sans"/>
                <a:sym typeface="Object Sans"/>
              </a:rPr>
              <a:t>: </a:t>
            </a:r>
          </a:p>
          <a:p>
            <a:pPr algn="r">
              <a:lnSpc>
                <a:spcPts val="1920"/>
              </a:lnSpc>
            </a:pPr>
            <a:r>
              <a:rPr lang="en-US" sz="1600">
                <a:solidFill>
                  <a:srgbClr val="292B2D"/>
                </a:solidFill>
                <a:latin typeface="Object Sans"/>
                <a:ea typeface="Object Sans"/>
                <a:cs typeface="Object Sans"/>
                <a:sym typeface="Object Sans"/>
              </a:rPr>
              <a:t>Marco Valenzuela Contreras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68588" y="3121141"/>
            <a:ext cx="6990712" cy="2186683"/>
            <a:chOff x="0" y="0"/>
            <a:chExt cx="1957493" cy="61230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957493" cy="612301"/>
            </a:xfrm>
            <a:custGeom>
              <a:avLst/>
              <a:gdLst/>
              <a:ahLst/>
              <a:cxnLst/>
              <a:rect r="r" b="b" t="t" l="l"/>
              <a:pathLst>
                <a:path h="612301" w="1957493">
                  <a:moveTo>
                    <a:pt x="15504" y="0"/>
                  </a:moveTo>
                  <a:lnTo>
                    <a:pt x="1941989" y="0"/>
                  </a:lnTo>
                  <a:cubicBezTo>
                    <a:pt x="1950552" y="0"/>
                    <a:pt x="1957493" y="6942"/>
                    <a:pt x="1957493" y="15504"/>
                  </a:cubicBezTo>
                  <a:lnTo>
                    <a:pt x="1957493" y="596796"/>
                  </a:lnTo>
                  <a:cubicBezTo>
                    <a:pt x="1957493" y="605359"/>
                    <a:pt x="1950552" y="612301"/>
                    <a:pt x="1941989" y="612301"/>
                  </a:cubicBezTo>
                  <a:lnTo>
                    <a:pt x="15504" y="612301"/>
                  </a:lnTo>
                  <a:cubicBezTo>
                    <a:pt x="6942" y="612301"/>
                    <a:pt x="0" y="605359"/>
                    <a:pt x="0" y="596796"/>
                  </a:cubicBezTo>
                  <a:lnTo>
                    <a:pt x="0" y="15504"/>
                  </a:lnTo>
                  <a:cubicBezTo>
                    <a:pt x="0" y="6942"/>
                    <a:pt x="6942" y="0"/>
                    <a:pt x="15504" y="0"/>
                  </a:cubicBezTo>
                  <a:close/>
                </a:path>
              </a:pathLst>
            </a:custGeom>
            <a:solidFill>
              <a:srgbClr val="292B2D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1957493" cy="640876"/>
            </a:xfrm>
            <a:prstGeom prst="rect">
              <a:avLst/>
            </a:prstGeom>
          </p:spPr>
          <p:txBody>
            <a:bodyPr anchor="ctr" rtlCol="false" tIns="59765" lIns="59765" bIns="59765" rIns="59765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1618388" y="7949997"/>
            <a:ext cx="333025" cy="333025"/>
          </a:xfrm>
          <a:custGeom>
            <a:avLst/>
            <a:gdLst/>
            <a:ahLst/>
            <a:cxnLst/>
            <a:rect r="r" b="b" t="t" l="l"/>
            <a:pathLst>
              <a:path h="333025" w="333025">
                <a:moveTo>
                  <a:pt x="0" y="0"/>
                </a:moveTo>
                <a:lnTo>
                  <a:pt x="333025" y="0"/>
                </a:lnTo>
                <a:lnTo>
                  <a:pt x="333025" y="333025"/>
                </a:lnTo>
                <a:lnTo>
                  <a:pt x="0" y="33302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0" y="4181408"/>
            <a:ext cx="8384846" cy="6105592"/>
          </a:xfrm>
          <a:custGeom>
            <a:avLst/>
            <a:gdLst/>
            <a:ahLst/>
            <a:cxnLst/>
            <a:rect r="r" b="b" t="t" l="l"/>
            <a:pathLst>
              <a:path h="6105592" w="8384846">
                <a:moveTo>
                  <a:pt x="0" y="0"/>
                </a:moveTo>
                <a:lnTo>
                  <a:pt x="8384846" y="0"/>
                </a:lnTo>
                <a:lnTo>
                  <a:pt x="8384846" y="6105592"/>
                </a:lnTo>
                <a:lnTo>
                  <a:pt x="0" y="610559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9499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028700" y="882766"/>
            <a:ext cx="7907878" cy="1181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99"/>
              </a:lnSpc>
            </a:pPr>
            <a:r>
              <a:rPr lang="en-US" sz="4999" spc="-249">
                <a:solidFill>
                  <a:srgbClr val="292B2D"/>
                </a:solidFill>
                <a:latin typeface="Object Sans"/>
                <a:ea typeface="Object Sans"/>
                <a:cs typeface="Object Sans"/>
                <a:sym typeface="Object Sans"/>
              </a:rPr>
              <a:t>PROPUESTA - PROB</a:t>
            </a:r>
            <a:r>
              <a:rPr lang="en-US" sz="4999" spc="-249">
                <a:solidFill>
                  <a:srgbClr val="292B2D"/>
                </a:solidFill>
                <a:latin typeface="Object Sans"/>
                <a:ea typeface="Object Sans"/>
                <a:cs typeface="Object Sans"/>
                <a:sym typeface="Object Sans"/>
              </a:rPr>
              <a:t>LEM</a:t>
            </a:r>
            <a:r>
              <a:rPr lang="en-US" sz="4999" spc="-249">
                <a:solidFill>
                  <a:srgbClr val="292B2D"/>
                </a:solidFill>
                <a:latin typeface="Object Sans"/>
                <a:ea typeface="Object Sans"/>
                <a:cs typeface="Object Sans"/>
                <a:sym typeface="Object Sans"/>
              </a:rPr>
              <a:t>A Y OBJETIV</a:t>
            </a:r>
            <a:r>
              <a:rPr lang="en-US" sz="4999" spc="-249">
                <a:solidFill>
                  <a:srgbClr val="292B2D"/>
                </a:solidFill>
                <a:latin typeface="Object Sans"/>
                <a:ea typeface="Object Sans"/>
                <a:cs typeface="Object Sans"/>
                <a:sym typeface="Object Sans"/>
              </a:rPr>
              <a:t>O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0252664" y="6288329"/>
            <a:ext cx="6990712" cy="2186683"/>
            <a:chOff x="0" y="0"/>
            <a:chExt cx="1957493" cy="61230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957493" cy="612301"/>
            </a:xfrm>
            <a:custGeom>
              <a:avLst/>
              <a:gdLst/>
              <a:ahLst/>
              <a:cxnLst/>
              <a:rect r="r" b="b" t="t" l="l"/>
              <a:pathLst>
                <a:path h="612301" w="1957493">
                  <a:moveTo>
                    <a:pt x="15504" y="0"/>
                  </a:moveTo>
                  <a:lnTo>
                    <a:pt x="1941989" y="0"/>
                  </a:lnTo>
                  <a:cubicBezTo>
                    <a:pt x="1950552" y="0"/>
                    <a:pt x="1957493" y="6942"/>
                    <a:pt x="1957493" y="15504"/>
                  </a:cubicBezTo>
                  <a:lnTo>
                    <a:pt x="1957493" y="596796"/>
                  </a:lnTo>
                  <a:cubicBezTo>
                    <a:pt x="1957493" y="605359"/>
                    <a:pt x="1950552" y="612301"/>
                    <a:pt x="1941989" y="612301"/>
                  </a:cubicBezTo>
                  <a:lnTo>
                    <a:pt x="15504" y="612301"/>
                  </a:lnTo>
                  <a:cubicBezTo>
                    <a:pt x="6942" y="612301"/>
                    <a:pt x="0" y="605359"/>
                    <a:pt x="0" y="596796"/>
                  </a:cubicBezTo>
                  <a:lnTo>
                    <a:pt x="0" y="15504"/>
                  </a:lnTo>
                  <a:cubicBezTo>
                    <a:pt x="0" y="6942"/>
                    <a:pt x="6942" y="0"/>
                    <a:pt x="15504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28575"/>
              <a:ext cx="1957493" cy="640876"/>
            </a:xfrm>
            <a:prstGeom prst="rect">
              <a:avLst/>
            </a:prstGeom>
          </p:spPr>
          <p:txBody>
            <a:bodyPr anchor="ctr" rtlCol="false" tIns="59765" lIns="59765" bIns="59765" rIns="59765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10236739" y="6696507"/>
            <a:ext cx="7006636" cy="12534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 b="true">
                <a:solidFill>
                  <a:srgbClr val="292B2D"/>
                </a:solidFill>
                <a:latin typeface="Object Sans Bold"/>
                <a:ea typeface="Object Sans Bold"/>
                <a:cs typeface="Object Sans Bold"/>
                <a:sym typeface="Object Sans Bold"/>
              </a:rPr>
              <a:t>Plataforma web que identifica bioequivalentes certificados por el ISP y compara sus precios entre farmacias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28700" y="2673466"/>
            <a:ext cx="6990712" cy="895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99"/>
              </a:lnSpc>
            </a:pPr>
            <a:r>
              <a:rPr lang="en-US" sz="2999" b="true">
                <a:solidFill>
                  <a:srgbClr val="292B2D"/>
                </a:solidFill>
                <a:latin typeface="Object Sans Bold"/>
                <a:ea typeface="Object Sans Bold"/>
                <a:cs typeface="Object Sans Bold"/>
                <a:sym typeface="Object Sans Bold"/>
              </a:rPr>
              <a:t>Bio</a:t>
            </a:r>
            <a:r>
              <a:rPr lang="en-US" sz="2999" b="true">
                <a:solidFill>
                  <a:srgbClr val="292B2D"/>
                </a:solidFill>
                <a:latin typeface="Object Sans Bold"/>
                <a:ea typeface="Object Sans Bold"/>
                <a:cs typeface="Object Sans Bold"/>
                <a:sym typeface="Object Sans Bold"/>
              </a:rPr>
              <a:t>EQUIVALENCIA Y ANALÍTICA  DE PRECIOS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1300816" y="3768712"/>
            <a:ext cx="4926256" cy="8343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399" spc="-71">
                <a:solidFill>
                  <a:srgbClr val="F6F4F1"/>
                </a:solidFill>
                <a:latin typeface="Object Sans"/>
                <a:ea typeface="Object Sans"/>
                <a:cs typeface="Object Sans"/>
                <a:sym typeface="Object Sans"/>
              </a:rPr>
              <a:t>El paciente no sabe que existe una alternativa certificada más barata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F6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92289" y="785813"/>
            <a:ext cx="8750689" cy="619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99"/>
              </a:lnSpc>
            </a:pPr>
            <a:r>
              <a:rPr lang="en-US" sz="4999" spc="-249">
                <a:solidFill>
                  <a:srgbClr val="292B2D"/>
                </a:solidFill>
                <a:latin typeface="Object Sans"/>
                <a:ea typeface="Object Sans"/>
                <a:cs typeface="Object Sans"/>
                <a:sym typeface="Object Sans"/>
              </a:rPr>
              <a:t>PROPUESTA - ALC</a:t>
            </a:r>
            <a:r>
              <a:rPr lang="en-US" sz="4999" spc="-249">
                <a:solidFill>
                  <a:srgbClr val="292B2D"/>
                </a:solidFill>
                <a:latin typeface="Object Sans"/>
                <a:ea typeface="Object Sans"/>
                <a:cs typeface="Object Sans"/>
                <a:sym typeface="Object Sans"/>
              </a:rPr>
              <a:t>A</a:t>
            </a:r>
            <a:r>
              <a:rPr lang="en-US" sz="4999" spc="-249">
                <a:solidFill>
                  <a:srgbClr val="292B2D"/>
                </a:solidFill>
                <a:latin typeface="Object Sans"/>
                <a:ea typeface="Object Sans"/>
                <a:cs typeface="Object Sans"/>
                <a:sym typeface="Object Sans"/>
              </a:rPr>
              <a:t>N</a:t>
            </a:r>
            <a:r>
              <a:rPr lang="en-US" sz="4999" spc="-249">
                <a:solidFill>
                  <a:srgbClr val="292B2D"/>
                </a:solidFill>
                <a:latin typeface="Object Sans"/>
                <a:ea typeface="Object Sans"/>
                <a:cs typeface="Object Sans"/>
                <a:sym typeface="Object Sans"/>
              </a:rPr>
              <a:t>C</a:t>
            </a:r>
            <a:r>
              <a:rPr lang="en-US" sz="4999" spc="-249">
                <a:solidFill>
                  <a:srgbClr val="292B2D"/>
                </a:solidFill>
                <a:latin typeface="Object Sans"/>
                <a:ea typeface="Object Sans"/>
                <a:cs typeface="Object Sans"/>
                <a:sym typeface="Object Sans"/>
              </a:rPr>
              <a:t>E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9577849" y="2586089"/>
            <a:ext cx="8251705" cy="6168768"/>
            <a:chOff x="0" y="0"/>
            <a:chExt cx="2310588" cy="172733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310588" cy="1727338"/>
            </a:xfrm>
            <a:custGeom>
              <a:avLst/>
              <a:gdLst/>
              <a:ahLst/>
              <a:cxnLst/>
              <a:rect r="r" b="b" t="t" l="l"/>
              <a:pathLst>
                <a:path h="1727338" w="2310588">
                  <a:moveTo>
                    <a:pt x="18764" y="0"/>
                  </a:moveTo>
                  <a:lnTo>
                    <a:pt x="2291824" y="0"/>
                  </a:lnTo>
                  <a:cubicBezTo>
                    <a:pt x="2302187" y="0"/>
                    <a:pt x="2310588" y="8401"/>
                    <a:pt x="2310588" y="18764"/>
                  </a:cubicBezTo>
                  <a:lnTo>
                    <a:pt x="2310588" y="1708574"/>
                  </a:lnTo>
                  <a:cubicBezTo>
                    <a:pt x="2310588" y="1713550"/>
                    <a:pt x="2308611" y="1718323"/>
                    <a:pt x="2305092" y="1721842"/>
                  </a:cubicBezTo>
                  <a:cubicBezTo>
                    <a:pt x="2301573" y="1725361"/>
                    <a:pt x="2296801" y="1727338"/>
                    <a:pt x="2291824" y="1727338"/>
                  </a:cubicBezTo>
                  <a:lnTo>
                    <a:pt x="18764" y="1727338"/>
                  </a:lnTo>
                  <a:cubicBezTo>
                    <a:pt x="8401" y="1727338"/>
                    <a:pt x="0" y="1718937"/>
                    <a:pt x="0" y="1708574"/>
                  </a:cubicBezTo>
                  <a:lnTo>
                    <a:pt x="0" y="18764"/>
                  </a:lnTo>
                  <a:cubicBezTo>
                    <a:pt x="0" y="13788"/>
                    <a:pt x="1977" y="9015"/>
                    <a:pt x="5496" y="5496"/>
                  </a:cubicBezTo>
                  <a:cubicBezTo>
                    <a:pt x="9015" y="1977"/>
                    <a:pt x="13788" y="0"/>
                    <a:pt x="18764" y="0"/>
                  </a:cubicBezTo>
                  <a:close/>
                </a:path>
              </a:pathLst>
            </a:custGeom>
            <a:solidFill>
              <a:srgbClr val="FF9999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28575"/>
              <a:ext cx="2310588" cy="1755913"/>
            </a:xfrm>
            <a:prstGeom prst="rect">
              <a:avLst/>
            </a:prstGeom>
          </p:spPr>
          <p:txBody>
            <a:bodyPr anchor="ctr" rtlCol="false" tIns="59765" lIns="59765" bIns="59765" rIns="59765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10717922" y="4353269"/>
            <a:ext cx="5971560" cy="33470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53388" indent="-226694" lvl="1">
              <a:lnSpc>
                <a:spcPts val="2939"/>
              </a:lnSpc>
              <a:buFont typeface="Arial"/>
              <a:buChar char="•"/>
            </a:pPr>
            <a:r>
              <a:rPr lang="en-US" sz="2099">
                <a:solidFill>
                  <a:srgbClr val="292B2D"/>
                </a:solidFill>
                <a:latin typeface="Object Sans"/>
                <a:ea typeface="Object Sans"/>
                <a:cs typeface="Object Sans"/>
                <a:sym typeface="Object Sans"/>
              </a:rPr>
              <a:t>Venta directa, procesamiento de pagos o reserva de medicamentos.</a:t>
            </a:r>
          </a:p>
          <a:p>
            <a:pPr algn="just" marL="453388" indent="-226694" lvl="1">
              <a:lnSpc>
                <a:spcPts val="2939"/>
              </a:lnSpc>
              <a:buFont typeface="Arial"/>
              <a:buChar char="•"/>
            </a:pPr>
            <a:r>
              <a:rPr lang="en-US" sz="2099">
                <a:solidFill>
                  <a:srgbClr val="292B2D"/>
                </a:solidFill>
                <a:latin typeface="Object Sans"/>
                <a:ea typeface="Object Sans"/>
                <a:cs typeface="Object Sans"/>
                <a:sym typeface="Object Sans"/>
              </a:rPr>
              <a:t>Emisión, validación </a:t>
            </a:r>
            <a:r>
              <a:rPr lang="en-US" sz="2099">
                <a:solidFill>
                  <a:srgbClr val="292B2D"/>
                </a:solidFill>
                <a:latin typeface="Object Sans"/>
                <a:ea typeface="Object Sans"/>
                <a:cs typeface="Object Sans"/>
                <a:sym typeface="Object Sans"/>
              </a:rPr>
              <a:t>o lectura de recetas médicas digitales.</a:t>
            </a:r>
          </a:p>
          <a:p>
            <a:pPr algn="just" marL="453388" indent="-226694" lvl="1">
              <a:lnSpc>
                <a:spcPts val="2939"/>
              </a:lnSpc>
              <a:buFont typeface="Arial"/>
              <a:buChar char="•"/>
            </a:pPr>
            <a:r>
              <a:rPr lang="en-US" sz="2099">
                <a:solidFill>
                  <a:srgbClr val="292B2D"/>
                </a:solidFill>
                <a:latin typeface="Object Sans"/>
                <a:ea typeface="Object Sans"/>
                <a:cs typeface="Object Sans"/>
                <a:sym typeface="Object Sans"/>
              </a:rPr>
              <a:t>Recomendación o diagnóstico clínic</a:t>
            </a:r>
            <a:r>
              <a:rPr lang="en-US" sz="2099">
                <a:solidFill>
                  <a:srgbClr val="292B2D"/>
                </a:solidFill>
                <a:latin typeface="Object Sans"/>
                <a:ea typeface="Object Sans"/>
                <a:cs typeface="Object Sans"/>
                <a:sym typeface="Object Sans"/>
              </a:rPr>
              <a:t>o (herramienta exclusivamente informativa).</a:t>
            </a:r>
          </a:p>
          <a:p>
            <a:pPr algn="just" marL="453388" indent="-226694" lvl="1">
              <a:lnSpc>
                <a:spcPts val="2939"/>
              </a:lnSpc>
              <a:buFont typeface="Arial"/>
              <a:buChar char="•"/>
            </a:pPr>
            <a:r>
              <a:rPr lang="en-US" sz="2099">
                <a:solidFill>
                  <a:srgbClr val="292B2D"/>
                </a:solidFill>
                <a:latin typeface="Object Sans"/>
                <a:ea typeface="Object Sans"/>
                <a:cs typeface="Object Sans"/>
                <a:sym typeface="Object Sans"/>
              </a:rPr>
              <a:t>Integración mediante API privada con sistemas ERP de farmacias.</a:t>
            </a:r>
          </a:p>
          <a:p>
            <a:pPr algn="just">
              <a:lnSpc>
                <a:spcPts val="2939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11450437" y="3218373"/>
            <a:ext cx="4506530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99"/>
              </a:lnSpc>
            </a:pPr>
            <a:r>
              <a:rPr lang="en-US" sz="2999" b="true">
                <a:solidFill>
                  <a:srgbClr val="292B2D"/>
                </a:solidFill>
                <a:latin typeface="Object Sans Bold"/>
                <a:ea typeface="Object Sans Bold"/>
                <a:cs typeface="Object Sans Bold"/>
                <a:sym typeface="Object Sans Bold"/>
              </a:rPr>
              <a:t>FUERA DEL ALCANCE: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615688" y="2586089"/>
            <a:ext cx="8251705" cy="6168768"/>
            <a:chOff x="0" y="0"/>
            <a:chExt cx="2310588" cy="172733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310588" cy="1727338"/>
            </a:xfrm>
            <a:custGeom>
              <a:avLst/>
              <a:gdLst/>
              <a:ahLst/>
              <a:cxnLst/>
              <a:rect r="r" b="b" t="t" l="l"/>
              <a:pathLst>
                <a:path h="1727338" w="2310588">
                  <a:moveTo>
                    <a:pt x="18764" y="0"/>
                  </a:moveTo>
                  <a:lnTo>
                    <a:pt x="2291824" y="0"/>
                  </a:lnTo>
                  <a:cubicBezTo>
                    <a:pt x="2302187" y="0"/>
                    <a:pt x="2310588" y="8401"/>
                    <a:pt x="2310588" y="18764"/>
                  </a:cubicBezTo>
                  <a:lnTo>
                    <a:pt x="2310588" y="1708574"/>
                  </a:lnTo>
                  <a:cubicBezTo>
                    <a:pt x="2310588" y="1713550"/>
                    <a:pt x="2308611" y="1718323"/>
                    <a:pt x="2305092" y="1721842"/>
                  </a:cubicBezTo>
                  <a:cubicBezTo>
                    <a:pt x="2301573" y="1725361"/>
                    <a:pt x="2296801" y="1727338"/>
                    <a:pt x="2291824" y="1727338"/>
                  </a:cubicBezTo>
                  <a:lnTo>
                    <a:pt x="18764" y="1727338"/>
                  </a:lnTo>
                  <a:cubicBezTo>
                    <a:pt x="8401" y="1727338"/>
                    <a:pt x="0" y="1718937"/>
                    <a:pt x="0" y="1708574"/>
                  </a:cubicBezTo>
                  <a:lnTo>
                    <a:pt x="0" y="18764"/>
                  </a:lnTo>
                  <a:cubicBezTo>
                    <a:pt x="0" y="13788"/>
                    <a:pt x="1977" y="9015"/>
                    <a:pt x="5496" y="5496"/>
                  </a:cubicBezTo>
                  <a:cubicBezTo>
                    <a:pt x="9015" y="1977"/>
                    <a:pt x="13788" y="0"/>
                    <a:pt x="18764" y="0"/>
                  </a:cubicBezTo>
                  <a:close/>
                </a:path>
              </a:pathLst>
            </a:custGeom>
            <a:solidFill>
              <a:srgbClr val="D9F4CD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28575"/>
              <a:ext cx="2310588" cy="1755913"/>
            </a:xfrm>
            <a:prstGeom prst="rect">
              <a:avLst/>
            </a:prstGeom>
          </p:spPr>
          <p:txBody>
            <a:bodyPr anchor="ctr" rtlCol="false" tIns="59765" lIns="59765" bIns="59765" rIns="59765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1321230" y="4362794"/>
            <a:ext cx="7292806" cy="37083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59606" indent="-229803" lvl="1">
              <a:lnSpc>
                <a:spcPts val="2980"/>
              </a:lnSpc>
              <a:buFont typeface="Arial"/>
              <a:buChar char="•"/>
            </a:pPr>
            <a:r>
              <a:rPr lang="en-US" sz="2128">
                <a:solidFill>
                  <a:srgbClr val="292B2D"/>
                </a:solidFill>
                <a:latin typeface="Object Sans"/>
                <a:ea typeface="Object Sans"/>
                <a:cs typeface="Object Sans"/>
                <a:sym typeface="Object Sans"/>
              </a:rPr>
              <a:t>Búsqueda inteligente por nombre comercial o Principio Activo (DCI).</a:t>
            </a:r>
          </a:p>
          <a:p>
            <a:pPr algn="l" marL="459606" indent="-229803" lvl="1">
              <a:lnSpc>
                <a:spcPts val="2980"/>
              </a:lnSpc>
              <a:buFont typeface="Arial"/>
              <a:buChar char="•"/>
            </a:pPr>
            <a:r>
              <a:rPr lang="en-US" sz="2128">
                <a:solidFill>
                  <a:srgbClr val="292B2D"/>
                </a:solidFill>
                <a:latin typeface="Object Sans"/>
                <a:ea typeface="Object Sans"/>
                <a:cs typeface="Object Sans"/>
                <a:sym typeface="Object Sans"/>
              </a:rPr>
              <a:t>Validación estricta de bioequivalencia según estándar ISP.</a:t>
            </a:r>
          </a:p>
          <a:p>
            <a:pPr algn="l" marL="459606" indent="-229803" lvl="1">
              <a:lnSpc>
                <a:spcPts val="2980"/>
              </a:lnSpc>
              <a:buFont typeface="Arial"/>
              <a:buChar char="•"/>
            </a:pPr>
            <a:r>
              <a:rPr lang="en-US" sz="2128">
                <a:solidFill>
                  <a:srgbClr val="292B2D"/>
                </a:solidFill>
                <a:latin typeface="Object Sans"/>
                <a:ea typeface="Object Sans"/>
                <a:cs typeface="Object Sans"/>
                <a:sym typeface="Object Sans"/>
              </a:rPr>
              <a:t>Web scraping automatizado en e-commerce de farmacias locales.</a:t>
            </a:r>
          </a:p>
          <a:p>
            <a:pPr algn="l" marL="459606" indent="-229803" lvl="1">
              <a:lnSpc>
                <a:spcPts val="2980"/>
              </a:lnSpc>
              <a:buFont typeface="Arial"/>
              <a:buChar char="•"/>
            </a:pPr>
            <a:r>
              <a:rPr lang="en-US" sz="2128">
                <a:solidFill>
                  <a:srgbClr val="292B2D"/>
                </a:solidFill>
                <a:latin typeface="Object Sans"/>
                <a:ea typeface="Object Sans"/>
                <a:cs typeface="Object Sans"/>
                <a:sym typeface="Object Sans"/>
              </a:rPr>
              <a:t>Gráficos evolutivos del histórico de precios y cálculo de ahorro.</a:t>
            </a:r>
          </a:p>
          <a:p>
            <a:pPr algn="l" marL="459606" indent="-229803" lvl="1">
              <a:lnSpc>
                <a:spcPts val="2980"/>
              </a:lnSpc>
              <a:buFont typeface="Arial"/>
              <a:buChar char="•"/>
            </a:pPr>
            <a:r>
              <a:rPr lang="en-US" sz="2128">
                <a:solidFill>
                  <a:srgbClr val="292B2D"/>
                </a:solidFill>
                <a:latin typeface="Object Sans"/>
                <a:ea typeface="Object Sans"/>
                <a:cs typeface="Object Sans"/>
                <a:sym typeface="Object Sans"/>
              </a:rPr>
              <a:t>Interfaz web responsiva optimizada para dispositivos móviles.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087613" y="3442211"/>
            <a:ext cx="5325069" cy="895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99"/>
              </a:lnSpc>
            </a:pPr>
            <a:r>
              <a:rPr lang="en-US" sz="2999" b="true">
                <a:solidFill>
                  <a:srgbClr val="292B2D"/>
                </a:solidFill>
                <a:latin typeface="Object Sans Bold"/>
                <a:ea typeface="Object Sans Bold"/>
                <a:cs typeface="Object Sans Bold"/>
                <a:sym typeface="Object Sans Bold"/>
              </a:rPr>
              <a:t>DENTRO DEL ALCANCE</a:t>
            </a:r>
          </a:p>
          <a:p>
            <a:pPr algn="l">
              <a:lnSpc>
                <a:spcPts val="3599"/>
              </a:lnSpc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name="Object 2" id="2"/>
          <p:cNvGraphicFramePr/>
          <p:nvPr/>
        </p:nvGraphicFramePr>
        <p:xfrm>
          <a:off x="1028700" y="2147704"/>
          <a:ext cx="7543800" cy="3771900"/>
        </p:xfrm>
        <a:graphic>
          <a:graphicData uri="http://schemas.openxmlformats.org/presentationml/2006/ole">
            <p:oleObj imgW="9042400" imgH="5270500" r:id="rId3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2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3" id="3"/>
          <p:cNvSpPr txBox="true"/>
          <p:nvPr/>
        </p:nvSpPr>
        <p:spPr>
          <a:xfrm rot="0">
            <a:off x="364057" y="504825"/>
            <a:ext cx="6096234" cy="1181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99"/>
              </a:lnSpc>
            </a:pPr>
            <a:r>
              <a:rPr lang="en-US" sz="4999" spc="-249">
                <a:solidFill>
                  <a:srgbClr val="292B2D"/>
                </a:solidFill>
                <a:latin typeface="Object Sans"/>
                <a:ea typeface="Object Sans"/>
                <a:cs typeface="Object Sans"/>
                <a:sym typeface="Object Sans"/>
              </a:rPr>
              <a:t>PROPUESTA - MO</a:t>
            </a:r>
            <a:r>
              <a:rPr lang="en-US" sz="4999" spc="-249">
                <a:solidFill>
                  <a:srgbClr val="292B2D"/>
                </a:solidFill>
                <a:latin typeface="Object Sans"/>
                <a:ea typeface="Object Sans"/>
                <a:cs typeface="Object Sans"/>
                <a:sym typeface="Object Sans"/>
              </a:rPr>
              <a:t>DEL</a:t>
            </a:r>
            <a:r>
              <a:rPr lang="en-US" sz="4999" spc="-249">
                <a:solidFill>
                  <a:srgbClr val="292B2D"/>
                </a:solidFill>
                <a:latin typeface="Object Sans"/>
                <a:ea typeface="Object Sans"/>
                <a:cs typeface="Object Sans"/>
                <a:sym typeface="Object Sans"/>
              </a:rPr>
              <a:t>O D</a:t>
            </a:r>
            <a:r>
              <a:rPr lang="en-US" sz="4999" spc="-249">
                <a:solidFill>
                  <a:srgbClr val="292B2D"/>
                </a:solidFill>
                <a:latin typeface="Object Sans"/>
                <a:ea typeface="Object Sans"/>
                <a:cs typeface="Object Sans"/>
                <a:sym typeface="Object Sans"/>
              </a:rPr>
              <a:t>E</a:t>
            </a:r>
            <a:r>
              <a:rPr lang="en-US" sz="4999" spc="-249">
                <a:solidFill>
                  <a:srgbClr val="292B2D"/>
                </a:solidFill>
                <a:latin typeface="Object Sans"/>
                <a:ea typeface="Object Sans"/>
                <a:cs typeface="Object Sans"/>
                <a:sym typeface="Object Sans"/>
              </a:rPr>
              <a:t> D</a:t>
            </a:r>
            <a:r>
              <a:rPr lang="en-US" sz="4999" spc="-249">
                <a:solidFill>
                  <a:srgbClr val="292B2D"/>
                </a:solidFill>
                <a:latin typeface="Object Sans"/>
                <a:ea typeface="Object Sans"/>
                <a:cs typeface="Object Sans"/>
                <a:sym typeface="Object Sans"/>
              </a:rPr>
              <a:t>A</a:t>
            </a:r>
            <a:r>
              <a:rPr lang="en-US" sz="4999" spc="-249">
                <a:solidFill>
                  <a:srgbClr val="292B2D"/>
                </a:solidFill>
                <a:latin typeface="Object Sans"/>
                <a:ea typeface="Object Sans"/>
                <a:cs typeface="Object Sans"/>
                <a:sym typeface="Object Sans"/>
              </a:rPr>
              <a:t>TO</a:t>
            </a:r>
            <a:r>
              <a:rPr lang="en-US" sz="4999" spc="-249">
                <a:solidFill>
                  <a:srgbClr val="292B2D"/>
                </a:solidFill>
                <a:latin typeface="Object Sans"/>
                <a:ea typeface="Object Sans"/>
                <a:cs typeface="Object Sans"/>
                <a:sym typeface="Object Sans"/>
              </a:rPr>
              <a:t>S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991887" y="1289218"/>
            <a:ext cx="14304227" cy="8504982"/>
          </a:xfrm>
          <a:custGeom>
            <a:avLst/>
            <a:gdLst/>
            <a:ahLst/>
            <a:cxnLst/>
            <a:rect r="r" b="b" t="t" l="l"/>
            <a:pathLst>
              <a:path h="8504982" w="14304227">
                <a:moveTo>
                  <a:pt x="0" y="0"/>
                </a:moveTo>
                <a:lnTo>
                  <a:pt x="14304226" y="0"/>
                </a:lnTo>
                <a:lnTo>
                  <a:pt x="14304226" y="8504981"/>
                </a:lnTo>
                <a:lnTo>
                  <a:pt x="0" y="850498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33" r="0" b="-933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269690" y="804862"/>
            <a:ext cx="5748621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99"/>
              </a:lnSpc>
            </a:pPr>
            <a:r>
              <a:rPr lang="en-US" sz="2999" b="true">
                <a:solidFill>
                  <a:srgbClr val="292B2D"/>
                </a:solidFill>
                <a:latin typeface="Object Sans Bold"/>
                <a:ea typeface="Object Sans Bold"/>
                <a:cs typeface="Object Sans Bold"/>
                <a:sym typeface="Object Sans Bold"/>
              </a:rPr>
              <a:t>MODELO DE DATOS INICIAL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>
          <a:srgbClr val="F6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43011" y="785813"/>
            <a:ext cx="14850438" cy="619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99"/>
              </a:lnSpc>
            </a:pPr>
            <a:r>
              <a:rPr lang="en-US" sz="4999" spc="-249">
                <a:solidFill>
                  <a:srgbClr val="292B2D"/>
                </a:solidFill>
                <a:latin typeface="Object Sans"/>
                <a:ea typeface="Object Sans"/>
                <a:cs typeface="Object Sans"/>
                <a:sym typeface="Object Sans"/>
              </a:rPr>
              <a:t>PROPUESTA - ARQUITECTURA DE ALTO NIVEL</a:t>
            </a:r>
          </a:p>
        </p:txBody>
      </p:sp>
      <p:sp>
        <p:nvSpPr>
          <p:cNvPr name="AutoShape 3" id="3"/>
          <p:cNvSpPr/>
          <p:nvPr/>
        </p:nvSpPr>
        <p:spPr>
          <a:xfrm>
            <a:off x="2435594" y="3727938"/>
            <a:ext cx="13678480" cy="0"/>
          </a:xfrm>
          <a:prstGeom prst="line">
            <a:avLst/>
          </a:prstGeom>
          <a:ln cap="flat" w="38100">
            <a:solidFill>
              <a:srgbClr val="292B2D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TextBox 4" id="4"/>
          <p:cNvSpPr txBox="true"/>
          <p:nvPr/>
        </p:nvSpPr>
        <p:spPr>
          <a:xfrm rot="0">
            <a:off x="2018751" y="4310787"/>
            <a:ext cx="2046584" cy="381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4"/>
              </a:lnSpc>
            </a:pPr>
            <a:r>
              <a:rPr lang="en-US" sz="2478" b="true">
                <a:solidFill>
                  <a:srgbClr val="292B2D"/>
                </a:solidFill>
                <a:latin typeface="Object Sans Bold"/>
                <a:ea typeface="Object Sans Bold"/>
                <a:cs typeface="Object Sans Bold"/>
                <a:sym typeface="Object Sans Bold"/>
              </a:rPr>
              <a:t>CAPA 1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620474" y="5555685"/>
            <a:ext cx="2290003" cy="25957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80"/>
              </a:lnSpc>
            </a:pPr>
            <a:r>
              <a:rPr lang="en-US" sz="2128">
                <a:solidFill>
                  <a:srgbClr val="292B2D"/>
                </a:solidFill>
                <a:latin typeface="Object Sans"/>
                <a:ea typeface="Object Sans"/>
                <a:cs typeface="Object Sans"/>
                <a:sym typeface="Object Sans"/>
              </a:rPr>
              <a:t>• ISP Ch</a:t>
            </a:r>
            <a:r>
              <a:rPr lang="en-US" sz="2128">
                <a:solidFill>
                  <a:srgbClr val="292B2D"/>
                </a:solidFill>
                <a:latin typeface="Object Sans"/>
                <a:ea typeface="Object Sans"/>
                <a:cs typeface="Object Sans"/>
                <a:sym typeface="Object Sans"/>
              </a:rPr>
              <a:t>ile (Open Data)</a:t>
            </a:r>
          </a:p>
          <a:p>
            <a:pPr algn="l">
              <a:lnSpc>
                <a:spcPts val="2980"/>
              </a:lnSpc>
            </a:pPr>
            <a:r>
              <a:rPr lang="en-US" sz="2128">
                <a:solidFill>
                  <a:srgbClr val="292B2D"/>
                </a:solidFill>
                <a:latin typeface="Object Sans"/>
                <a:ea typeface="Object Sans"/>
                <a:cs typeface="Object Sans"/>
                <a:sym typeface="Object Sans"/>
              </a:rPr>
              <a:t>• Web Scraping (Cruz Verde, Salcobrand, Ahumada, Independientes)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5700074" y="4310787"/>
            <a:ext cx="2046584" cy="381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4"/>
              </a:lnSpc>
            </a:pPr>
            <a:r>
              <a:rPr lang="en-US" sz="2478" b="true">
                <a:solidFill>
                  <a:srgbClr val="292B2D"/>
                </a:solidFill>
                <a:latin typeface="Object Sans Bold"/>
                <a:ea typeface="Object Sans Bold"/>
                <a:cs typeface="Object Sans Bold"/>
                <a:sym typeface="Object Sans Bold"/>
              </a:rPr>
              <a:t>CAPA 2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5498042" y="5555685"/>
            <a:ext cx="2370188" cy="25957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80"/>
              </a:lnSpc>
            </a:pPr>
            <a:r>
              <a:rPr lang="en-US" sz="2128">
                <a:solidFill>
                  <a:srgbClr val="292B2D"/>
                </a:solidFill>
                <a:latin typeface="Object Sans"/>
                <a:ea typeface="Object Sans"/>
                <a:cs typeface="Object Sans"/>
                <a:sym typeface="Object Sans"/>
              </a:rPr>
              <a:t>•</a:t>
            </a:r>
            <a:r>
              <a:rPr lang="en-US" sz="2128">
                <a:solidFill>
                  <a:srgbClr val="292B2D"/>
                </a:solidFill>
                <a:latin typeface="Object Sans"/>
                <a:ea typeface="Object Sans"/>
                <a:cs typeface="Object Sans"/>
                <a:sym typeface="Object Sans"/>
              </a:rPr>
              <a:t> Python (Playwright / Scrapy)</a:t>
            </a:r>
          </a:p>
          <a:p>
            <a:pPr algn="l">
              <a:lnSpc>
                <a:spcPts val="2980"/>
              </a:lnSpc>
            </a:pPr>
            <a:r>
              <a:rPr lang="en-US" sz="2128">
                <a:solidFill>
                  <a:srgbClr val="292B2D"/>
                </a:solidFill>
                <a:latin typeface="Object Sans"/>
                <a:ea typeface="Object Sans"/>
                <a:cs typeface="Object Sans"/>
                <a:sym typeface="Object Sans"/>
              </a:rPr>
              <a:t>• Cron Jobs automatizados</a:t>
            </a:r>
          </a:p>
          <a:p>
            <a:pPr algn="l">
              <a:lnSpc>
                <a:spcPts val="2980"/>
              </a:lnSpc>
            </a:pPr>
            <a:r>
              <a:rPr lang="en-US" sz="2128">
                <a:solidFill>
                  <a:srgbClr val="292B2D"/>
                </a:solidFill>
                <a:latin typeface="Object Sans"/>
                <a:ea typeface="Object Sans"/>
                <a:cs typeface="Object Sans"/>
                <a:sym typeface="Object Sans"/>
              </a:rPr>
              <a:t>• Limpieza y Normalización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607072" y="4310787"/>
            <a:ext cx="2046584" cy="381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4"/>
              </a:lnSpc>
            </a:pPr>
            <a:r>
              <a:rPr lang="en-US" sz="2478" b="true">
                <a:solidFill>
                  <a:srgbClr val="292B2D"/>
                </a:solidFill>
                <a:latin typeface="Object Sans Bold"/>
                <a:ea typeface="Object Sans Bold"/>
                <a:cs typeface="Object Sans Bold"/>
                <a:sym typeface="Object Sans Bold"/>
              </a:rPr>
              <a:t>CAPA 3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337870" y="5524500"/>
            <a:ext cx="2046584" cy="25957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80"/>
              </a:lnSpc>
            </a:pPr>
            <a:r>
              <a:rPr lang="en-US" sz="2128">
                <a:solidFill>
                  <a:srgbClr val="292B2D"/>
                </a:solidFill>
                <a:latin typeface="Object Sans"/>
                <a:ea typeface="Object Sans"/>
                <a:cs typeface="Object Sans"/>
                <a:sym typeface="Object Sans"/>
              </a:rPr>
              <a:t>• FastAPI / Nod</a:t>
            </a:r>
            <a:r>
              <a:rPr lang="en-US" sz="2128">
                <a:solidFill>
                  <a:srgbClr val="292B2D"/>
                </a:solidFill>
                <a:latin typeface="Object Sans"/>
                <a:ea typeface="Object Sans"/>
                <a:cs typeface="Object Sans"/>
                <a:sym typeface="Object Sans"/>
              </a:rPr>
              <a:t>e.js REST</a:t>
            </a:r>
          </a:p>
          <a:p>
            <a:pPr algn="l">
              <a:lnSpc>
                <a:spcPts val="2980"/>
              </a:lnSpc>
            </a:pPr>
            <a:r>
              <a:rPr lang="en-US" sz="2128">
                <a:solidFill>
                  <a:srgbClr val="292B2D"/>
                </a:solidFill>
                <a:latin typeface="Object Sans"/>
                <a:ea typeface="Object Sans"/>
                <a:cs typeface="Object Sans"/>
                <a:sym typeface="Object Sans"/>
              </a:rPr>
              <a:t>• PostgreSQL (Relacional)</a:t>
            </a:r>
          </a:p>
          <a:p>
            <a:pPr algn="l">
              <a:lnSpc>
                <a:spcPts val="2980"/>
              </a:lnSpc>
            </a:pPr>
            <a:r>
              <a:rPr lang="en-US" sz="2128">
                <a:solidFill>
                  <a:srgbClr val="292B2D"/>
                </a:solidFill>
                <a:latin typeface="Object Sans"/>
                <a:ea typeface="Object Sans"/>
                <a:cs typeface="Object Sans"/>
                <a:sym typeface="Object Sans"/>
              </a:rPr>
              <a:t>• Engine de Matching Terapéutico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3374508" y="4207716"/>
            <a:ext cx="2046584" cy="381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4"/>
              </a:lnSpc>
            </a:pPr>
            <a:r>
              <a:rPr lang="en-US" sz="2478" b="true">
                <a:solidFill>
                  <a:srgbClr val="292B2D"/>
                </a:solidFill>
                <a:latin typeface="Object Sans Bold"/>
                <a:ea typeface="Object Sans Bold"/>
                <a:cs typeface="Object Sans Bold"/>
                <a:sym typeface="Object Sans Bold"/>
              </a:rPr>
              <a:t>CAPA 4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3089429" y="5524500"/>
            <a:ext cx="2046584" cy="1852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80"/>
              </a:lnSpc>
            </a:pPr>
            <a:r>
              <a:rPr lang="en-US" sz="2128">
                <a:solidFill>
                  <a:srgbClr val="292B2D"/>
                </a:solidFill>
                <a:latin typeface="Object Sans"/>
                <a:ea typeface="Object Sans"/>
                <a:cs typeface="Object Sans"/>
                <a:sym typeface="Object Sans"/>
              </a:rPr>
              <a:t>• Re</a:t>
            </a:r>
            <a:r>
              <a:rPr lang="en-US" sz="2128">
                <a:solidFill>
                  <a:srgbClr val="292B2D"/>
                </a:solidFill>
                <a:latin typeface="Object Sans"/>
                <a:ea typeface="Object Sans"/>
                <a:cs typeface="Object Sans"/>
                <a:sym typeface="Object Sans"/>
              </a:rPr>
              <a:t>act / Next.js</a:t>
            </a:r>
          </a:p>
          <a:p>
            <a:pPr algn="l">
              <a:lnSpc>
                <a:spcPts val="2980"/>
              </a:lnSpc>
            </a:pPr>
            <a:r>
              <a:rPr lang="en-US" sz="2128">
                <a:solidFill>
                  <a:srgbClr val="292B2D"/>
                </a:solidFill>
                <a:latin typeface="Object Sans"/>
                <a:ea typeface="Object Sans"/>
                <a:cs typeface="Object Sans"/>
                <a:sym typeface="Object Sans"/>
              </a:rPr>
              <a:t>• CSS</a:t>
            </a:r>
          </a:p>
          <a:p>
            <a:pPr algn="l">
              <a:lnSpc>
                <a:spcPts val="2980"/>
              </a:lnSpc>
            </a:pPr>
            <a:r>
              <a:rPr lang="en-US" sz="2128">
                <a:solidFill>
                  <a:srgbClr val="292B2D"/>
                </a:solidFill>
                <a:latin typeface="Object Sans"/>
                <a:ea typeface="Object Sans"/>
                <a:cs typeface="Object Sans"/>
                <a:sym typeface="Object Sans"/>
              </a:rPr>
              <a:t>• Gráficos de Precios (Chart.js)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2435594" y="3549141"/>
            <a:ext cx="329533" cy="329533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92B2D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6234995" y="3563171"/>
            <a:ext cx="329533" cy="329533"/>
            <a:chOff x="0" y="0"/>
            <a:chExt cx="812800" cy="812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92B2D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0031629" y="3563171"/>
            <a:ext cx="329533" cy="329533"/>
            <a:chOff x="0" y="0"/>
            <a:chExt cx="812800" cy="8128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92B2D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3828262" y="3563171"/>
            <a:ext cx="329533" cy="329533"/>
            <a:chOff x="0" y="0"/>
            <a:chExt cx="812800" cy="8128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92B2D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4" id="24"/>
          <p:cNvSpPr txBox="true"/>
          <p:nvPr/>
        </p:nvSpPr>
        <p:spPr>
          <a:xfrm rot="0">
            <a:off x="1741835" y="4937195"/>
            <a:ext cx="2047280" cy="666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292B2D"/>
                </a:solidFill>
                <a:latin typeface="Object Sans"/>
                <a:ea typeface="Object Sans"/>
                <a:cs typeface="Object Sans"/>
                <a:sym typeface="Object Sans"/>
              </a:rPr>
              <a:t>Fuentes de Datos</a:t>
            </a:r>
          </a:p>
          <a:p>
            <a:pPr algn="ctr">
              <a:lnSpc>
                <a:spcPts val="2659"/>
              </a:lnSpc>
              <a:spcBef>
                <a:spcPct val="0"/>
              </a:spcBef>
            </a:pPr>
          </a:p>
        </p:txBody>
      </p:sp>
      <p:sp>
        <p:nvSpPr>
          <p:cNvPr name="TextBox 25" id="25"/>
          <p:cNvSpPr txBox="true"/>
          <p:nvPr/>
        </p:nvSpPr>
        <p:spPr>
          <a:xfrm rot="0">
            <a:off x="5498042" y="4937195"/>
            <a:ext cx="1803440" cy="332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292B2D"/>
                </a:solidFill>
                <a:latin typeface="Object Sans"/>
                <a:ea typeface="Object Sans"/>
                <a:cs typeface="Object Sans"/>
                <a:sym typeface="Object Sans"/>
              </a:rPr>
              <a:t>ETL &amp; Scraping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9337870" y="4961325"/>
            <a:ext cx="1670923" cy="332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292B2D"/>
                </a:solidFill>
                <a:latin typeface="Object Sans"/>
                <a:ea typeface="Object Sans"/>
                <a:cs typeface="Object Sans"/>
                <a:sym typeface="Object Sans"/>
              </a:rPr>
              <a:t>Backend &amp; BD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3291956" y="4834124"/>
            <a:ext cx="1458635" cy="332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292B2D"/>
                </a:solidFill>
                <a:latin typeface="Object Sans"/>
                <a:ea typeface="Object Sans"/>
                <a:cs typeface="Object Sans"/>
                <a:sym typeface="Object Sans"/>
              </a:rPr>
              <a:t>Frontend UX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>
      <p:bgPr>
        <a:solidFill>
          <a:srgbClr val="F6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75431" y="2206735"/>
            <a:ext cx="2656117" cy="3600904"/>
            <a:chOff x="0" y="0"/>
            <a:chExt cx="743748" cy="100830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43748" cy="1008301"/>
            </a:xfrm>
            <a:custGeom>
              <a:avLst/>
              <a:gdLst/>
              <a:ahLst/>
              <a:cxnLst/>
              <a:rect r="r" b="b" t="t" l="l"/>
              <a:pathLst>
                <a:path h="1008301" w="743748">
                  <a:moveTo>
                    <a:pt x="58295" y="0"/>
                  </a:moveTo>
                  <a:lnTo>
                    <a:pt x="685453" y="0"/>
                  </a:lnTo>
                  <a:cubicBezTo>
                    <a:pt x="700914" y="0"/>
                    <a:pt x="715742" y="6142"/>
                    <a:pt x="726674" y="17074"/>
                  </a:cubicBezTo>
                  <a:cubicBezTo>
                    <a:pt x="737607" y="28007"/>
                    <a:pt x="743748" y="42834"/>
                    <a:pt x="743748" y="58295"/>
                  </a:cubicBezTo>
                  <a:lnTo>
                    <a:pt x="743748" y="950006"/>
                  </a:lnTo>
                  <a:cubicBezTo>
                    <a:pt x="743748" y="982202"/>
                    <a:pt x="717649" y="1008301"/>
                    <a:pt x="685453" y="1008301"/>
                  </a:cubicBezTo>
                  <a:lnTo>
                    <a:pt x="58295" y="1008301"/>
                  </a:lnTo>
                  <a:cubicBezTo>
                    <a:pt x="26100" y="1008301"/>
                    <a:pt x="0" y="982202"/>
                    <a:pt x="0" y="950006"/>
                  </a:cubicBezTo>
                  <a:lnTo>
                    <a:pt x="0" y="58295"/>
                  </a:lnTo>
                  <a:cubicBezTo>
                    <a:pt x="0" y="42834"/>
                    <a:pt x="6142" y="28007"/>
                    <a:pt x="17074" y="17074"/>
                  </a:cubicBezTo>
                  <a:cubicBezTo>
                    <a:pt x="28007" y="6142"/>
                    <a:pt x="42834" y="0"/>
                    <a:pt x="58295" y="0"/>
                  </a:cubicBezTo>
                  <a:close/>
                </a:path>
              </a:pathLst>
            </a:custGeom>
            <a:solidFill>
              <a:srgbClr val="CAF5F7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743748" cy="1036876"/>
            </a:xfrm>
            <a:prstGeom prst="rect">
              <a:avLst/>
            </a:prstGeom>
          </p:spPr>
          <p:txBody>
            <a:bodyPr anchor="ctr" rtlCol="false" tIns="59765" lIns="59765" bIns="59765" rIns="59765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872327" y="2206735"/>
            <a:ext cx="2656117" cy="3765581"/>
            <a:chOff x="0" y="0"/>
            <a:chExt cx="743748" cy="105441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743748" cy="1054413"/>
            </a:xfrm>
            <a:custGeom>
              <a:avLst/>
              <a:gdLst/>
              <a:ahLst/>
              <a:cxnLst/>
              <a:rect r="r" b="b" t="t" l="l"/>
              <a:pathLst>
                <a:path h="1054413" w="743748">
                  <a:moveTo>
                    <a:pt x="58295" y="0"/>
                  </a:moveTo>
                  <a:lnTo>
                    <a:pt x="685453" y="0"/>
                  </a:lnTo>
                  <a:cubicBezTo>
                    <a:pt x="700914" y="0"/>
                    <a:pt x="715742" y="6142"/>
                    <a:pt x="726674" y="17074"/>
                  </a:cubicBezTo>
                  <a:cubicBezTo>
                    <a:pt x="737607" y="28007"/>
                    <a:pt x="743748" y="42834"/>
                    <a:pt x="743748" y="58295"/>
                  </a:cubicBezTo>
                  <a:lnTo>
                    <a:pt x="743748" y="996118"/>
                  </a:lnTo>
                  <a:cubicBezTo>
                    <a:pt x="743748" y="1028314"/>
                    <a:pt x="717649" y="1054413"/>
                    <a:pt x="685453" y="1054413"/>
                  </a:cubicBezTo>
                  <a:lnTo>
                    <a:pt x="58295" y="1054413"/>
                  </a:lnTo>
                  <a:cubicBezTo>
                    <a:pt x="42834" y="1054413"/>
                    <a:pt x="28007" y="1048271"/>
                    <a:pt x="17074" y="1037339"/>
                  </a:cubicBezTo>
                  <a:cubicBezTo>
                    <a:pt x="6142" y="1026407"/>
                    <a:pt x="0" y="1011579"/>
                    <a:pt x="0" y="996118"/>
                  </a:cubicBezTo>
                  <a:lnTo>
                    <a:pt x="0" y="58295"/>
                  </a:lnTo>
                  <a:cubicBezTo>
                    <a:pt x="0" y="42834"/>
                    <a:pt x="6142" y="28007"/>
                    <a:pt x="17074" y="17074"/>
                  </a:cubicBezTo>
                  <a:cubicBezTo>
                    <a:pt x="28007" y="6142"/>
                    <a:pt x="42834" y="0"/>
                    <a:pt x="58295" y="0"/>
                  </a:cubicBezTo>
                  <a:close/>
                </a:path>
              </a:pathLst>
            </a:custGeom>
            <a:solidFill>
              <a:srgbClr val="CAF5F7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28575"/>
              <a:ext cx="743748" cy="1082988"/>
            </a:xfrm>
            <a:prstGeom prst="rect">
              <a:avLst/>
            </a:prstGeom>
          </p:spPr>
          <p:txBody>
            <a:bodyPr anchor="ctr" rtlCol="false" tIns="59765" lIns="59765" bIns="59765" rIns="59765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673806" y="487906"/>
            <a:ext cx="14940389" cy="11696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60"/>
              </a:lnSpc>
            </a:pPr>
            <a:r>
              <a:rPr lang="en-US" sz="4956" spc="-247">
                <a:solidFill>
                  <a:srgbClr val="292B2D"/>
                </a:solidFill>
                <a:latin typeface="Object Sans"/>
                <a:ea typeface="Object Sans"/>
                <a:cs typeface="Object Sans"/>
                <a:sym typeface="Object Sans"/>
              </a:rPr>
              <a:t>PROPUESTA - METODOLOGÍA DE TRABAJO SELECCIONADA</a:t>
            </a:r>
          </a:p>
        </p:txBody>
      </p:sp>
      <p:sp>
        <p:nvSpPr>
          <p:cNvPr name="AutoShape 9" id="9"/>
          <p:cNvSpPr/>
          <p:nvPr/>
        </p:nvSpPr>
        <p:spPr>
          <a:xfrm>
            <a:off x="2579584" y="6151112"/>
            <a:ext cx="13678480" cy="0"/>
          </a:xfrm>
          <a:prstGeom prst="line">
            <a:avLst/>
          </a:prstGeom>
          <a:ln cap="flat" w="38100">
            <a:solidFill>
              <a:srgbClr val="292B2D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TextBox 10" id="10"/>
          <p:cNvSpPr txBox="true"/>
          <p:nvPr/>
        </p:nvSpPr>
        <p:spPr>
          <a:xfrm rot="0">
            <a:off x="1930105" y="2403947"/>
            <a:ext cx="2046584" cy="7530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4"/>
              </a:lnSpc>
            </a:pPr>
            <a:r>
              <a:rPr lang="en-US" sz="2478" b="true">
                <a:solidFill>
                  <a:srgbClr val="292B2D"/>
                </a:solidFill>
                <a:latin typeface="Object Sans Bold"/>
                <a:ea typeface="Object Sans Bold"/>
                <a:cs typeface="Object Sans Bold"/>
                <a:sym typeface="Object Sans Bold"/>
              </a:rPr>
              <a:t>SPRINT 1</a:t>
            </a:r>
          </a:p>
          <a:p>
            <a:pPr algn="l">
              <a:lnSpc>
                <a:spcPts val="2974"/>
              </a:lnSpc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1764116" y="3742549"/>
            <a:ext cx="2290003" cy="1852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80"/>
              </a:lnSpc>
            </a:pPr>
            <a:r>
              <a:rPr lang="en-US" sz="2128">
                <a:solidFill>
                  <a:srgbClr val="292B2D"/>
                </a:solidFill>
                <a:latin typeface="Object Sans"/>
                <a:ea typeface="Object Sans"/>
                <a:cs typeface="Object Sans"/>
                <a:sym typeface="Object Sans"/>
              </a:rPr>
              <a:t>Ing</a:t>
            </a:r>
            <a:r>
              <a:rPr lang="en-US" sz="2128">
                <a:solidFill>
                  <a:srgbClr val="292B2D"/>
                </a:solidFill>
                <a:latin typeface="Object Sans"/>
                <a:ea typeface="Object Sans"/>
                <a:cs typeface="Object Sans"/>
                <a:sym typeface="Object Sans"/>
              </a:rPr>
              <a:t>esta de base ISP, modelado PostgreSQL y motor de matching DCI.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5050927" y="6478831"/>
            <a:ext cx="2839721" cy="3632291"/>
            <a:chOff x="0" y="0"/>
            <a:chExt cx="795160" cy="101709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795160" cy="1017090"/>
            </a:xfrm>
            <a:custGeom>
              <a:avLst/>
              <a:gdLst/>
              <a:ahLst/>
              <a:cxnLst/>
              <a:rect r="r" b="b" t="t" l="l"/>
              <a:pathLst>
                <a:path h="1017090" w="795160">
                  <a:moveTo>
                    <a:pt x="54526" y="0"/>
                  </a:moveTo>
                  <a:lnTo>
                    <a:pt x="740634" y="0"/>
                  </a:lnTo>
                  <a:cubicBezTo>
                    <a:pt x="755095" y="0"/>
                    <a:pt x="768964" y="5745"/>
                    <a:pt x="779190" y="15970"/>
                  </a:cubicBezTo>
                  <a:cubicBezTo>
                    <a:pt x="789415" y="26196"/>
                    <a:pt x="795160" y="40065"/>
                    <a:pt x="795160" y="54526"/>
                  </a:cubicBezTo>
                  <a:lnTo>
                    <a:pt x="795160" y="962564"/>
                  </a:lnTo>
                  <a:cubicBezTo>
                    <a:pt x="795160" y="977026"/>
                    <a:pt x="789415" y="990894"/>
                    <a:pt x="779190" y="1001120"/>
                  </a:cubicBezTo>
                  <a:cubicBezTo>
                    <a:pt x="768964" y="1011346"/>
                    <a:pt x="755095" y="1017090"/>
                    <a:pt x="740634" y="1017090"/>
                  </a:cubicBezTo>
                  <a:lnTo>
                    <a:pt x="54526" y="1017090"/>
                  </a:lnTo>
                  <a:cubicBezTo>
                    <a:pt x="24412" y="1017090"/>
                    <a:pt x="0" y="992678"/>
                    <a:pt x="0" y="962564"/>
                  </a:cubicBezTo>
                  <a:lnTo>
                    <a:pt x="0" y="54526"/>
                  </a:lnTo>
                  <a:cubicBezTo>
                    <a:pt x="0" y="24412"/>
                    <a:pt x="24412" y="0"/>
                    <a:pt x="54526" y="0"/>
                  </a:cubicBezTo>
                  <a:close/>
                </a:path>
              </a:pathLst>
            </a:custGeom>
            <a:solidFill>
              <a:srgbClr val="CAF5F7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28575"/>
              <a:ext cx="795160" cy="1045665"/>
            </a:xfrm>
            <a:prstGeom prst="rect">
              <a:avLst/>
            </a:prstGeom>
          </p:spPr>
          <p:txBody>
            <a:bodyPr anchor="ctr" rtlCol="false" tIns="59765" lIns="59765" bIns="59765" rIns="59765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5844064" y="6733961"/>
            <a:ext cx="2046584" cy="7530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4"/>
              </a:lnSpc>
            </a:pPr>
            <a:r>
              <a:rPr lang="en-US" sz="2478" b="true">
                <a:solidFill>
                  <a:srgbClr val="292B2D"/>
                </a:solidFill>
                <a:latin typeface="Object Sans Bold"/>
                <a:ea typeface="Object Sans Bold"/>
                <a:cs typeface="Object Sans Bold"/>
                <a:sym typeface="Object Sans Bold"/>
              </a:rPr>
              <a:t>SPRINT 2</a:t>
            </a:r>
          </a:p>
          <a:p>
            <a:pPr algn="l">
              <a:lnSpc>
                <a:spcPts val="2974"/>
              </a:lnSpc>
            </a:pPr>
          </a:p>
        </p:txBody>
      </p:sp>
      <p:sp>
        <p:nvSpPr>
          <p:cNvPr name="TextBox 16" id="16"/>
          <p:cNvSpPr txBox="true"/>
          <p:nvPr/>
        </p:nvSpPr>
        <p:spPr>
          <a:xfrm rot="0">
            <a:off x="5358658" y="7947674"/>
            <a:ext cx="2370188" cy="1852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80"/>
              </a:lnSpc>
            </a:pPr>
            <a:r>
              <a:rPr lang="en-US" sz="2128">
                <a:solidFill>
                  <a:srgbClr val="292B2D"/>
                </a:solidFill>
                <a:latin typeface="Object Sans"/>
                <a:ea typeface="Object Sans"/>
                <a:cs typeface="Object Sans"/>
                <a:sym typeface="Object Sans"/>
              </a:rPr>
              <a:t>Des</a:t>
            </a:r>
            <a:r>
              <a:rPr lang="en-US" sz="2128">
                <a:solidFill>
                  <a:srgbClr val="292B2D"/>
                </a:solidFill>
                <a:latin typeface="Object Sans"/>
                <a:ea typeface="Object Sans"/>
                <a:cs typeface="Object Sans"/>
                <a:sym typeface="Object Sans"/>
              </a:rPr>
              <a:t>arrollo de scrapers para farmacias y creación de REST API en FastAPI.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317094" y="2394175"/>
            <a:ext cx="2046584" cy="381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4"/>
              </a:lnSpc>
            </a:pPr>
            <a:r>
              <a:rPr lang="en-US" sz="2478" b="true">
                <a:solidFill>
                  <a:srgbClr val="292B2D"/>
                </a:solidFill>
                <a:latin typeface="Object Sans Bold"/>
                <a:ea typeface="Object Sans Bold"/>
                <a:cs typeface="Object Sans Bold"/>
                <a:sym typeface="Object Sans Bold"/>
              </a:rPr>
              <a:t>SPRINT 3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317094" y="3556679"/>
            <a:ext cx="2046584" cy="22239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80"/>
              </a:lnSpc>
            </a:pPr>
            <a:r>
              <a:rPr lang="en-US" sz="2128">
                <a:solidFill>
                  <a:srgbClr val="292B2D"/>
                </a:solidFill>
                <a:latin typeface="Object Sans"/>
                <a:ea typeface="Object Sans"/>
                <a:cs typeface="Object Sans"/>
                <a:sym typeface="Object Sans"/>
              </a:rPr>
              <a:t>Construcción d</a:t>
            </a:r>
            <a:r>
              <a:rPr lang="en-US" sz="2128">
                <a:solidFill>
                  <a:srgbClr val="292B2D"/>
                </a:solidFill>
                <a:latin typeface="Object Sans"/>
                <a:ea typeface="Object Sans"/>
                <a:cs typeface="Object Sans"/>
                <a:sym typeface="Object Sans"/>
              </a:rPr>
              <a:t>e interfaz en React, buscador y componentes de gráficos.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12837205" y="6478831"/>
            <a:ext cx="2656117" cy="3632291"/>
            <a:chOff x="0" y="0"/>
            <a:chExt cx="743748" cy="101709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743748" cy="1017090"/>
            </a:xfrm>
            <a:custGeom>
              <a:avLst/>
              <a:gdLst/>
              <a:ahLst/>
              <a:cxnLst/>
              <a:rect r="r" b="b" t="t" l="l"/>
              <a:pathLst>
                <a:path h="1017090" w="743748">
                  <a:moveTo>
                    <a:pt x="58295" y="0"/>
                  </a:moveTo>
                  <a:lnTo>
                    <a:pt x="685453" y="0"/>
                  </a:lnTo>
                  <a:cubicBezTo>
                    <a:pt x="700914" y="0"/>
                    <a:pt x="715742" y="6142"/>
                    <a:pt x="726674" y="17074"/>
                  </a:cubicBezTo>
                  <a:cubicBezTo>
                    <a:pt x="737607" y="28007"/>
                    <a:pt x="743748" y="42834"/>
                    <a:pt x="743748" y="58295"/>
                  </a:cubicBezTo>
                  <a:lnTo>
                    <a:pt x="743748" y="958795"/>
                  </a:lnTo>
                  <a:cubicBezTo>
                    <a:pt x="743748" y="990991"/>
                    <a:pt x="717649" y="1017090"/>
                    <a:pt x="685453" y="1017090"/>
                  </a:cubicBezTo>
                  <a:lnTo>
                    <a:pt x="58295" y="1017090"/>
                  </a:lnTo>
                  <a:cubicBezTo>
                    <a:pt x="26100" y="1017090"/>
                    <a:pt x="0" y="990991"/>
                    <a:pt x="0" y="958795"/>
                  </a:cubicBezTo>
                  <a:lnTo>
                    <a:pt x="0" y="58295"/>
                  </a:lnTo>
                  <a:cubicBezTo>
                    <a:pt x="0" y="42834"/>
                    <a:pt x="6142" y="28007"/>
                    <a:pt x="17074" y="17074"/>
                  </a:cubicBezTo>
                  <a:cubicBezTo>
                    <a:pt x="28007" y="6142"/>
                    <a:pt x="42834" y="0"/>
                    <a:pt x="58295" y="0"/>
                  </a:cubicBezTo>
                  <a:close/>
                </a:path>
              </a:pathLst>
            </a:custGeom>
            <a:solidFill>
              <a:srgbClr val="CAF5F7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28575"/>
              <a:ext cx="743748" cy="1045665"/>
            </a:xfrm>
            <a:prstGeom prst="rect">
              <a:avLst/>
            </a:prstGeom>
          </p:spPr>
          <p:txBody>
            <a:bodyPr anchor="ctr" rtlCol="false" tIns="59765" lIns="59765" bIns="59765" rIns="59765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13518499" y="6630890"/>
            <a:ext cx="2046584" cy="381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4"/>
              </a:lnSpc>
            </a:pPr>
            <a:r>
              <a:rPr lang="en-US" sz="2478" b="true">
                <a:solidFill>
                  <a:srgbClr val="292B2D"/>
                </a:solidFill>
                <a:latin typeface="Object Sans Bold"/>
                <a:ea typeface="Object Sans Bold"/>
                <a:cs typeface="Object Sans Bold"/>
                <a:sym typeface="Object Sans Bold"/>
              </a:rPr>
              <a:t>SPRINT 4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3278494" y="7761804"/>
            <a:ext cx="2046584" cy="22239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80"/>
              </a:lnSpc>
            </a:pPr>
            <a:r>
              <a:rPr lang="en-US" sz="2128">
                <a:solidFill>
                  <a:srgbClr val="292B2D"/>
                </a:solidFill>
                <a:latin typeface="Object Sans"/>
                <a:ea typeface="Object Sans"/>
                <a:cs typeface="Object Sans"/>
                <a:sym typeface="Object Sans"/>
              </a:rPr>
              <a:t>Prueb</a:t>
            </a:r>
            <a:r>
              <a:rPr lang="en-US" sz="2128">
                <a:solidFill>
                  <a:srgbClr val="292B2D"/>
                </a:solidFill>
                <a:latin typeface="Object Sans"/>
                <a:ea typeface="Object Sans"/>
                <a:cs typeface="Object Sans"/>
                <a:sym typeface="Object Sans"/>
              </a:rPr>
              <a:t>as de estrés, validación de datos con farmacéutico y despliegue.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2579584" y="5972316"/>
            <a:ext cx="329533" cy="329533"/>
            <a:chOff x="0" y="0"/>
            <a:chExt cx="812800" cy="8128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92B2D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6378986" y="5986346"/>
            <a:ext cx="329533" cy="329533"/>
            <a:chOff x="0" y="0"/>
            <a:chExt cx="812800" cy="8128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92B2D"/>
            </a:solidFill>
          </p:spPr>
        </p:sp>
        <p:sp>
          <p:nvSpPr>
            <p:cNvPr name="TextBox 29" id="29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10175619" y="5986346"/>
            <a:ext cx="329533" cy="329533"/>
            <a:chOff x="0" y="0"/>
            <a:chExt cx="812800" cy="8128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92B2D"/>
            </a:solidFill>
          </p:spPr>
        </p:sp>
        <p:sp>
          <p:nvSpPr>
            <p:cNvPr name="TextBox 32" id="32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13972252" y="5986346"/>
            <a:ext cx="329533" cy="329533"/>
            <a:chOff x="0" y="0"/>
            <a:chExt cx="812800" cy="81280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92B2D"/>
            </a:solidFill>
          </p:spPr>
        </p:sp>
        <p:sp>
          <p:nvSpPr>
            <p:cNvPr name="TextBox 35" id="35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36" id="36"/>
          <p:cNvSpPr txBox="true"/>
          <p:nvPr/>
        </p:nvSpPr>
        <p:spPr>
          <a:xfrm rot="0">
            <a:off x="1526842" y="3079923"/>
            <a:ext cx="2553295" cy="332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b="true" sz="1899">
                <a:solidFill>
                  <a:srgbClr val="292B2D"/>
                </a:solidFill>
                <a:latin typeface="Object Sans Bold"/>
                <a:ea typeface="Object Sans Bold"/>
                <a:cs typeface="Object Sans Bold"/>
                <a:sym typeface="Object Sans Bold"/>
              </a:rPr>
              <a:t>L</a:t>
            </a:r>
            <a:r>
              <a:rPr lang="en-US" b="true" sz="1899">
                <a:solidFill>
                  <a:srgbClr val="292B2D"/>
                </a:solidFill>
                <a:latin typeface="Object Sans Bold"/>
                <a:ea typeface="Object Sans Bold"/>
                <a:cs typeface="Object Sans Bold"/>
                <a:sym typeface="Object Sans Bold"/>
              </a:rPr>
              <a:t>evantamiento &amp; ETL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5558828" y="7296785"/>
            <a:ext cx="1823918" cy="332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b="true" sz="1899">
                <a:solidFill>
                  <a:srgbClr val="292B2D"/>
                </a:solidFill>
                <a:latin typeface="Object Sans Bold"/>
                <a:ea typeface="Object Sans Bold"/>
                <a:cs typeface="Object Sans Bold"/>
                <a:sym typeface="Object Sans Bold"/>
              </a:rPr>
              <a:t>Scraping &amp; API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9317094" y="2937365"/>
            <a:ext cx="1776412" cy="332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b="true" sz="1899">
                <a:solidFill>
                  <a:srgbClr val="292B2D"/>
                </a:solidFill>
                <a:latin typeface="Object Sans Bold"/>
                <a:ea typeface="Object Sans Bold"/>
                <a:cs typeface="Object Sans Bold"/>
                <a:sym typeface="Object Sans Bold"/>
              </a:rPr>
              <a:t>Front</a:t>
            </a:r>
            <a:r>
              <a:rPr lang="en-US" b="true" sz="1899">
                <a:solidFill>
                  <a:srgbClr val="292B2D"/>
                </a:solidFill>
                <a:latin typeface="Object Sans Bold"/>
                <a:ea typeface="Object Sans Bold"/>
                <a:cs typeface="Object Sans Bold"/>
                <a:sym typeface="Object Sans Bold"/>
              </a:rPr>
              <a:t>end &amp; UX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2887663" y="7257298"/>
            <a:ext cx="2555200" cy="332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b="true" sz="1899">
                <a:solidFill>
                  <a:srgbClr val="292B2D"/>
                </a:solidFill>
                <a:latin typeface="Object Sans Bold"/>
                <a:ea typeface="Object Sans Bold"/>
                <a:cs typeface="Object Sans Bold"/>
                <a:sym typeface="Object Sans Bold"/>
              </a:rPr>
              <a:t>Tes</a:t>
            </a:r>
            <a:r>
              <a:rPr lang="en-US" b="true" sz="1899">
                <a:solidFill>
                  <a:srgbClr val="292B2D"/>
                </a:solidFill>
                <a:latin typeface="Object Sans Bold"/>
                <a:ea typeface="Object Sans Bold"/>
                <a:cs typeface="Object Sans Bold"/>
                <a:sym typeface="Object Sans Bold"/>
              </a:rPr>
              <a:t>ting &amp; Despliegue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5208568" y="1609932"/>
            <a:ext cx="7870865" cy="2920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80"/>
              </a:lnSpc>
              <a:spcBef>
                <a:spcPct val="0"/>
              </a:spcBef>
            </a:pPr>
            <a:r>
              <a:rPr lang="en-US" sz="1628">
                <a:solidFill>
                  <a:srgbClr val="292B2D"/>
                </a:solidFill>
                <a:latin typeface="Object Sans"/>
                <a:ea typeface="Object Sans"/>
                <a:cs typeface="Object Sans"/>
                <a:sym typeface="Object Sans"/>
              </a:rPr>
              <a:t>METODOLOGÍA AGILE / SCRUM Duración estimada: 4 Sprints (8 a 10 semanas)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bg>
      <p:bgPr>
        <a:solidFill>
          <a:srgbClr val="F6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673806" y="1162050"/>
            <a:ext cx="14940389" cy="22838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60"/>
              </a:lnSpc>
            </a:pPr>
            <a:r>
              <a:rPr lang="en-US" sz="4956" spc="-247">
                <a:solidFill>
                  <a:srgbClr val="292B2D"/>
                </a:solidFill>
                <a:latin typeface="Object Sans"/>
                <a:ea typeface="Object Sans"/>
                <a:cs typeface="Object Sans"/>
                <a:sym typeface="Object Sans"/>
              </a:rPr>
              <a:t>PROPUESTA - FACTIBILIDAD Y EVALUACIÓN DE RIESGOS</a:t>
            </a:r>
          </a:p>
          <a:p>
            <a:pPr algn="ctr">
              <a:lnSpc>
                <a:spcPts val="4460"/>
              </a:lnSpc>
            </a:pPr>
          </a:p>
          <a:p>
            <a:pPr algn="ctr">
              <a:lnSpc>
                <a:spcPts val="4460"/>
              </a:lnSpc>
            </a:pPr>
          </a:p>
        </p:txBody>
      </p:sp>
      <p:grpSp>
        <p:nvGrpSpPr>
          <p:cNvPr name="Group 3" id="3"/>
          <p:cNvGrpSpPr/>
          <p:nvPr/>
        </p:nvGrpSpPr>
        <p:grpSpPr>
          <a:xfrm rot="0">
            <a:off x="350216" y="3800378"/>
            <a:ext cx="5375756" cy="4775038"/>
            <a:chOff x="0" y="0"/>
            <a:chExt cx="1505284" cy="133707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505284" cy="1337075"/>
            </a:xfrm>
            <a:custGeom>
              <a:avLst/>
              <a:gdLst/>
              <a:ahLst/>
              <a:cxnLst/>
              <a:rect r="r" b="b" t="t" l="l"/>
              <a:pathLst>
                <a:path h="1337075" w="1505284">
                  <a:moveTo>
                    <a:pt x="28803" y="0"/>
                  </a:moveTo>
                  <a:lnTo>
                    <a:pt x="1476481" y="0"/>
                  </a:lnTo>
                  <a:cubicBezTo>
                    <a:pt x="1492388" y="0"/>
                    <a:pt x="1505284" y="12896"/>
                    <a:pt x="1505284" y="28803"/>
                  </a:cubicBezTo>
                  <a:lnTo>
                    <a:pt x="1505284" y="1308272"/>
                  </a:lnTo>
                  <a:cubicBezTo>
                    <a:pt x="1505284" y="1324179"/>
                    <a:pt x="1492388" y="1337075"/>
                    <a:pt x="1476481" y="1337075"/>
                  </a:cubicBezTo>
                  <a:lnTo>
                    <a:pt x="28803" y="1337075"/>
                  </a:lnTo>
                  <a:cubicBezTo>
                    <a:pt x="12896" y="1337075"/>
                    <a:pt x="0" y="1324179"/>
                    <a:pt x="0" y="1308272"/>
                  </a:cubicBezTo>
                  <a:lnTo>
                    <a:pt x="0" y="28803"/>
                  </a:lnTo>
                  <a:cubicBezTo>
                    <a:pt x="0" y="12896"/>
                    <a:pt x="12896" y="0"/>
                    <a:pt x="28803" y="0"/>
                  </a:cubicBezTo>
                  <a:close/>
                </a:path>
              </a:pathLst>
            </a:custGeom>
            <a:solidFill>
              <a:srgbClr val="CBCDC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28575"/>
              <a:ext cx="1505284" cy="1365650"/>
            </a:xfrm>
            <a:prstGeom prst="rect">
              <a:avLst/>
            </a:prstGeom>
          </p:spPr>
          <p:txBody>
            <a:bodyPr anchor="ctr" rtlCol="false" tIns="59765" lIns="59765" bIns="59765" rIns="59765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6605260" y="3800378"/>
            <a:ext cx="5375756" cy="4775038"/>
            <a:chOff x="0" y="0"/>
            <a:chExt cx="1505284" cy="133707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505284" cy="1337075"/>
            </a:xfrm>
            <a:custGeom>
              <a:avLst/>
              <a:gdLst/>
              <a:ahLst/>
              <a:cxnLst/>
              <a:rect r="r" b="b" t="t" l="l"/>
              <a:pathLst>
                <a:path h="1337075" w="1505284">
                  <a:moveTo>
                    <a:pt x="28803" y="0"/>
                  </a:moveTo>
                  <a:lnTo>
                    <a:pt x="1476481" y="0"/>
                  </a:lnTo>
                  <a:cubicBezTo>
                    <a:pt x="1492388" y="0"/>
                    <a:pt x="1505284" y="12896"/>
                    <a:pt x="1505284" y="28803"/>
                  </a:cubicBezTo>
                  <a:lnTo>
                    <a:pt x="1505284" y="1308272"/>
                  </a:lnTo>
                  <a:cubicBezTo>
                    <a:pt x="1505284" y="1324179"/>
                    <a:pt x="1492388" y="1337075"/>
                    <a:pt x="1476481" y="1337075"/>
                  </a:cubicBezTo>
                  <a:lnTo>
                    <a:pt x="28803" y="1337075"/>
                  </a:lnTo>
                  <a:cubicBezTo>
                    <a:pt x="12896" y="1337075"/>
                    <a:pt x="0" y="1324179"/>
                    <a:pt x="0" y="1308272"/>
                  </a:cubicBezTo>
                  <a:lnTo>
                    <a:pt x="0" y="28803"/>
                  </a:lnTo>
                  <a:cubicBezTo>
                    <a:pt x="0" y="12896"/>
                    <a:pt x="12896" y="0"/>
                    <a:pt x="28803" y="0"/>
                  </a:cubicBezTo>
                  <a:close/>
                </a:path>
              </a:pathLst>
            </a:custGeom>
            <a:solidFill>
              <a:srgbClr val="CBCDCF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28575"/>
              <a:ext cx="1505284" cy="1365650"/>
            </a:xfrm>
            <a:prstGeom prst="rect">
              <a:avLst/>
            </a:prstGeom>
          </p:spPr>
          <p:txBody>
            <a:bodyPr anchor="ctr" rtlCol="false" tIns="59765" lIns="59765" bIns="59765" rIns="59765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2565303" y="3800378"/>
            <a:ext cx="5375756" cy="4775038"/>
            <a:chOff x="0" y="0"/>
            <a:chExt cx="1505284" cy="133707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505284" cy="1337075"/>
            </a:xfrm>
            <a:custGeom>
              <a:avLst/>
              <a:gdLst/>
              <a:ahLst/>
              <a:cxnLst/>
              <a:rect r="r" b="b" t="t" l="l"/>
              <a:pathLst>
                <a:path h="1337075" w="1505284">
                  <a:moveTo>
                    <a:pt x="28803" y="0"/>
                  </a:moveTo>
                  <a:lnTo>
                    <a:pt x="1476481" y="0"/>
                  </a:lnTo>
                  <a:cubicBezTo>
                    <a:pt x="1492388" y="0"/>
                    <a:pt x="1505284" y="12896"/>
                    <a:pt x="1505284" y="28803"/>
                  </a:cubicBezTo>
                  <a:lnTo>
                    <a:pt x="1505284" y="1308272"/>
                  </a:lnTo>
                  <a:cubicBezTo>
                    <a:pt x="1505284" y="1324179"/>
                    <a:pt x="1492388" y="1337075"/>
                    <a:pt x="1476481" y="1337075"/>
                  </a:cubicBezTo>
                  <a:lnTo>
                    <a:pt x="28803" y="1337075"/>
                  </a:lnTo>
                  <a:cubicBezTo>
                    <a:pt x="12896" y="1337075"/>
                    <a:pt x="0" y="1324179"/>
                    <a:pt x="0" y="1308272"/>
                  </a:cubicBezTo>
                  <a:lnTo>
                    <a:pt x="0" y="28803"/>
                  </a:lnTo>
                  <a:cubicBezTo>
                    <a:pt x="0" y="12896"/>
                    <a:pt x="12896" y="0"/>
                    <a:pt x="28803" y="0"/>
                  </a:cubicBezTo>
                  <a:close/>
                </a:path>
              </a:pathLst>
            </a:custGeom>
            <a:solidFill>
              <a:srgbClr val="CBCDCF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28575"/>
              <a:ext cx="1505284" cy="1365650"/>
            </a:xfrm>
            <a:prstGeom prst="rect">
              <a:avLst/>
            </a:prstGeom>
          </p:spPr>
          <p:txBody>
            <a:bodyPr anchor="ctr" rtlCol="false" tIns="59765" lIns="59765" bIns="59765" rIns="59765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1028700" y="4565698"/>
            <a:ext cx="3952506" cy="33368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80"/>
              </a:lnSpc>
              <a:spcBef>
                <a:spcPct val="0"/>
              </a:spcBef>
            </a:pPr>
            <a:r>
              <a:rPr lang="en-US" b="true" sz="2128">
                <a:solidFill>
                  <a:srgbClr val="292B2D"/>
                </a:solidFill>
                <a:latin typeface="Object Sans Bold"/>
                <a:ea typeface="Object Sans Bold"/>
                <a:cs typeface="Object Sans Bold"/>
                <a:sym typeface="Object Sans Bold"/>
              </a:rPr>
              <a:t>Factibilidad Técnica</a:t>
            </a:r>
          </a:p>
          <a:p>
            <a:pPr algn="ctr">
              <a:lnSpc>
                <a:spcPts val="2980"/>
              </a:lnSpc>
              <a:spcBef>
                <a:spcPct val="0"/>
              </a:spcBef>
            </a:pPr>
          </a:p>
          <a:p>
            <a:pPr algn="ctr">
              <a:lnSpc>
                <a:spcPts val="2980"/>
              </a:lnSpc>
              <a:spcBef>
                <a:spcPct val="0"/>
              </a:spcBef>
            </a:pPr>
            <a:r>
              <a:rPr lang="en-US" sz="2128">
                <a:solidFill>
                  <a:srgbClr val="292B2D"/>
                </a:solidFill>
                <a:latin typeface="Object Sans"/>
                <a:ea typeface="Object Sans"/>
                <a:cs typeface="Object Sans"/>
                <a:sym typeface="Object Sans"/>
              </a:rPr>
              <a:t>La información del ISP es de acceso público en Datos Abiertos. Las tecnologías seleccionadas (Python, PostgreSQL, React) son maduras y estándar en la industria.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797001" y="4565698"/>
            <a:ext cx="4992273" cy="22224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80"/>
              </a:lnSpc>
              <a:spcBef>
                <a:spcPct val="0"/>
              </a:spcBef>
            </a:pPr>
            <a:r>
              <a:rPr lang="en-US" b="true" sz="2128">
                <a:solidFill>
                  <a:srgbClr val="292B2D"/>
                </a:solidFill>
                <a:latin typeface="Object Sans Bold"/>
                <a:ea typeface="Object Sans Bold"/>
                <a:cs typeface="Object Sans Bold"/>
                <a:sym typeface="Object Sans Bold"/>
              </a:rPr>
              <a:t>Factibilidad Legal</a:t>
            </a:r>
          </a:p>
          <a:p>
            <a:pPr algn="ctr">
              <a:lnSpc>
                <a:spcPts val="2980"/>
              </a:lnSpc>
              <a:spcBef>
                <a:spcPct val="0"/>
              </a:spcBef>
            </a:pPr>
          </a:p>
          <a:p>
            <a:pPr algn="ctr">
              <a:lnSpc>
                <a:spcPts val="2980"/>
              </a:lnSpc>
              <a:spcBef>
                <a:spcPct val="0"/>
              </a:spcBef>
            </a:pPr>
            <a:r>
              <a:rPr lang="en-US" sz="2128">
                <a:solidFill>
                  <a:srgbClr val="292B2D"/>
                </a:solidFill>
                <a:latin typeface="Object Sans"/>
                <a:ea typeface="Object Sans"/>
                <a:cs typeface="Object Sans"/>
                <a:sym typeface="Object Sans"/>
              </a:rPr>
              <a:t>Se utilizan datos públicos oficiales. El scraping recopila información pública de precios comerciales sin vulnerar datos personales (Ley 19.628).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996161" y="4565698"/>
            <a:ext cx="4514039" cy="33368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80"/>
              </a:lnSpc>
              <a:spcBef>
                <a:spcPct val="0"/>
              </a:spcBef>
            </a:pPr>
            <a:r>
              <a:rPr lang="en-US" b="true" sz="2128">
                <a:solidFill>
                  <a:srgbClr val="292B2D"/>
                </a:solidFill>
                <a:latin typeface="Object Sans Bold"/>
                <a:ea typeface="Object Sans Bold"/>
                <a:cs typeface="Object Sans Bold"/>
                <a:sym typeface="Object Sans Bold"/>
              </a:rPr>
              <a:t>Mitigación de Riesgos</a:t>
            </a:r>
          </a:p>
          <a:p>
            <a:pPr algn="ctr">
              <a:lnSpc>
                <a:spcPts val="2980"/>
              </a:lnSpc>
              <a:spcBef>
                <a:spcPct val="0"/>
              </a:spcBef>
            </a:pPr>
          </a:p>
          <a:p>
            <a:pPr algn="ctr">
              <a:lnSpc>
                <a:spcPts val="2980"/>
              </a:lnSpc>
              <a:spcBef>
                <a:spcPct val="0"/>
              </a:spcBef>
            </a:pPr>
            <a:r>
              <a:rPr lang="en-US" sz="2128">
                <a:solidFill>
                  <a:srgbClr val="292B2D"/>
                </a:solidFill>
                <a:latin typeface="Object Sans"/>
                <a:ea typeface="Object Sans"/>
                <a:cs typeface="Object Sans"/>
                <a:sym typeface="Object Sans"/>
              </a:rPr>
              <a:t>Riesgo: Cambios en estructuras HTML de e-commerce.</a:t>
            </a:r>
          </a:p>
          <a:p>
            <a:pPr algn="ctr">
              <a:lnSpc>
                <a:spcPts val="2980"/>
              </a:lnSpc>
              <a:spcBef>
                <a:spcPct val="0"/>
              </a:spcBef>
            </a:pPr>
          </a:p>
          <a:p>
            <a:pPr algn="ctr">
              <a:lnSpc>
                <a:spcPts val="2980"/>
              </a:lnSpc>
              <a:spcBef>
                <a:spcPct val="0"/>
              </a:spcBef>
            </a:pPr>
            <a:r>
              <a:rPr lang="en-US" sz="2128">
                <a:solidFill>
                  <a:srgbClr val="292B2D"/>
                </a:solidFill>
                <a:latin typeface="Object Sans"/>
                <a:ea typeface="Object Sans"/>
                <a:cs typeface="Object Sans"/>
                <a:sym typeface="Object Sans"/>
              </a:rPr>
              <a:t>Mitigación: Arquitectura modular de scrapers con alertas automáticas ante fallas de extracción.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DAHS3JVL02o</dc:identifier>
  <dcterms:modified xsi:type="dcterms:W3CDTF">2011-08-01T06:04:30Z</dcterms:modified>
  <cp:revision>1</cp:revision>
  <dc:title>Propuesta</dc:title>
</cp:coreProperties>
</file>